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Số ca bệnh</c:v>
                </c:pt>
              </c:strCache>
            </c:strRef>
          </c:tx>
          <c:dPt>
            <c:idx val="0"/>
            <c:spPr>
              <a:solidFill>
                <a:srgbClr val="1E3A8A"/>
              </a:solidFill>
            </c:spPr>
          </c:dPt>
          <c:dPt>
            <c:idx val="1"/>
            <c:spPr>
              <a:solidFill>
                <a:srgbClr val="0284C7"/>
              </a:solidFill>
            </c:spPr>
          </c:dPt>
          <c:dPt>
            <c:idx val="2"/>
            <c:spPr>
              <a:solidFill>
                <a:srgbClr val="38BDF8"/>
              </a:solidFill>
            </c:spPr>
          </c:dPt>
          <c:dPt>
            <c:idx val="3"/>
            <c:spPr>
              <a:solidFill>
                <a:srgbClr val="64748B"/>
              </a:solidFill>
            </c:spPr>
          </c:dPt>
          <c:cat>
            <c:strRef>
              <c:f>Sheet1!$A$2:$A$5</c:f>
              <c:strCache>
                <c:ptCount val="4"/>
                <c:pt idx="0">
                  <c:v>Cúm mùa (42.0%)</c:v>
                </c:pt>
                <c:pt idx="1">
                  <c:v>Sốt xuất huyết (31.0%)</c:v>
                </c:pt>
                <c:pt idx="2">
                  <c:v>Viêm đường hô hấp (18.0%)</c:v>
                </c:pt>
                <c:pt idx="3">
                  <c:v>Tiêu hóa &amp; khác (9.0%)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310</c:v>
                </c:pt>
                <c:pt idx="2">
                  <c:v>180</c:v>
                </c:pt>
                <c:pt idx="3">
                  <c:v>90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3600" b="1">
                <a:solidFill>
                  <a:srgbClr val="F8FAFC"/>
                </a:solidFill>
                <a:latin typeface="Calibri"/>
              </a:rPr>
              <a:t>Hệ Thống Clinic-Cloud Và Bệnh Án Điện Tử An Toàn</a:t>
            </a:r>
          </a:p>
          <a:p>
            <a:r>
              <a:rPr sz="2000">
                <a:solidFill>
                  <a:srgbClr val="7DD3FC"/>
                </a:solidFill>
                <a:latin typeface="Calibri"/>
              </a:rPr>
              <a:t>Đặc tả SRS bảo mật và quản lý 1,000 hồ sơ bệnh nhân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CBD5E1"/>
                </a:solidFill>
                <a:latin typeface="Calibri"/>
              </a:rPr>
              <a:t>Thi Thành Đạt | N26DTCN041 | CNTT2 | Session10_Ex04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2_ex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Calibri"/>
              </a:rPr>
              <a:t>PHẦN 1: PHÂN TÍCH YÊU CẦU HỆ THỐNG CLINIC-CLOUD</a:t>
            </a:r>
          </a:p>
          <a:p>
            <a:pPr algn="l"/>
            <a:r>
              <a:rPr sz="2500" b="1">
                <a:solidFill>
                  <a:srgbClr val="0F172A"/>
                </a:solidFill>
                <a:latin typeface="Calibri"/>
              </a:rPr>
              <a:t>SRS Bệnh án điện tử kết hợp nghiệp vụ khám bệnh và 4 lớp bảo mật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Yêu cầu chức năng (Khám bệnh): </a:t>
            </a:r>
            <a:r>
              <a:rPr sz="1600">
                <a:solidFill>
                  <a:srgbClr val="475569"/>
                </a:solidFill>
                <a:latin typeface="Calibri"/>
              </a:rPr>
              <a:t>Tạo mã bệnh nhân P0001-P1000, lưu chẩn đoán, kê đơn và hẹn tái khám.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Phân quyền và mã hóa (Phi chức năng): </a:t>
            </a:r>
            <a:r>
              <a:rPr sz="1600">
                <a:solidFill>
                  <a:srgbClr val="475569"/>
                </a:solidFill>
                <a:latin typeface="Calibri"/>
              </a:rPr>
              <a:t>Lễ tân chỉ xem SĐT; bác sĩ xem bệnh án; mã hóa dữ liệu trên đám mây.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Sao lưu và nhật ký truy cập: </a:t>
            </a:r>
            <a:r>
              <a:rPr sz="1600">
                <a:solidFill>
                  <a:srgbClr val="475569"/>
                </a:solidFill>
                <a:latin typeface="Calibri"/>
              </a:rPr>
              <a:t>Tự động sao lưu 23:00 mỗi ngày và ghi nhận mọi lượt mở xem hồ sơ.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Nguồn: Checklist bảo mật y tế tại Startup Clinic (Session 10 - Ex 04)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Calibri"/>
              </a:rPr>
              <a:t>PHẦN 2 &amp; 3: QUẢN TRỊ 1,000 HỒ SƠ EXCEL VÀ KIỂM THỬ TÀI LIỆU WORD</a:t>
            </a:r>
          </a:p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Xử lý triệt để bẫy ô trống AutoFilter và lỗi gán nhầm Heading Styles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329183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Calibri"/>
              </a:rPr>
              <a:t>1. Chuẩn Database Mindset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Không gộp ô: </a:t>
            </a:r>
            <a:r>
              <a:rPr sz="1600">
                <a:solidFill>
                  <a:srgbClr val="475569"/>
                </a:solidFill>
                <a:latin typeface="Calibri"/>
              </a:rPr>
              <a:t>1,000 hồ sơ xếp liền mạch từ dòng 2 đến dòng 1001.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Khóa chính đầy đủ: </a:t>
            </a:r>
            <a:r>
              <a:rPr sz="1600">
                <a:solidFill>
                  <a:srgbClr val="475569"/>
                </a:solidFill>
                <a:latin typeface="Calibri"/>
              </a:rPr>
              <a:t>Cột Mã bệnh nhân (P0001-P1000) luôn kín 100%.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329183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Calibri"/>
              </a:rPr>
              <a:t>2. Vượt Bẫy AutoFilter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Lấp nhanh ô trống: </a:t>
            </a:r>
            <a:r>
              <a:rPr sz="1600">
                <a:solidFill>
                  <a:srgbClr val="475569"/>
                </a:solidFill>
                <a:latin typeface="Calibri"/>
              </a:rPr>
              <a:t>Nhấn F5 -&gt; Special -&gt; Blanks, điền 'Chưa cập nhật'.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Khóa vùng lọc: </a:t>
            </a:r>
            <a:r>
              <a:rPr sz="1600">
                <a:solidFill>
                  <a:srgbClr val="475569"/>
                </a:solidFill>
                <a:latin typeface="Calibri"/>
              </a:rPr>
              <a:t>Quét chọn đủ A1:I1001 hoặc nhấn Ctrl + T trước khi lọc.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329183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Calibri"/>
              </a:rPr>
              <a:t>3. Sửa Lỗi Heading Word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Lỗi gán nhầm: </a:t>
            </a:r>
            <a:r>
              <a:rPr sz="1600">
                <a:solidFill>
                  <a:srgbClr val="475569"/>
                </a:solidFill>
                <a:latin typeface="Calibri"/>
              </a:rPr>
              <a:t>Đoạn văn bị biến thành tiêu đề và lọt vào Mục lục.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Phím tắt khắc phục: </a:t>
            </a:r>
            <a:r>
              <a:rPr sz="1600">
                <a:solidFill>
                  <a:srgbClr val="475569"/>
                </a:solidFill>
                <a:latin typeface="Calibri"/>
              </a:rPr>
              <a:t>Đặt chuột vào đoạn văn và nhấn Ctrl + Shift + 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Ứng dụng Go To Special (Blanks) trên Excel và phím tắt Ctrl + Shift + N (Normal Style) trên Word.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Calibri"/>
              </a:rPr>
              <a:t>BÁO CÁO SỐ LIỆU DỊCH BỆNH BẰNG DONUT CHART TỐI GIẢN (1,000 HỒ SƠ GIẢ ĐỊNH)</a:t>
            </a:r>
          </a:p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Cúm mùa (42.0%) và Sốt xuất huyết (31.0%) chiếm gần 3/4 tổng số ca khám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2062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Nhóm bệnh chiếm đa số (73.0%): </a:t>
            </a:r>
            <a:r>
              <a:rPr sz="1600">
                <a:solidFill>
                  <a:srgbClr val="475569"/>
                </a:solidFill>
                <a:latin typeface="Calibri"/>
              </a:rPr>
              <a:t>Cúm mùa (420 ca) và Sốt xuất huyết (310 ca) cần ưu tiên dự trữ thuốc.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Nhóm hô hấp và tiêu hóa (27.0%): </a:t>
            </a:r>
            <a:r>
              <a:rPr sz="1600">
                <a:solidFill>
                  <a:srgbClr val="475569"/>
                </a:solidFill>
                <a:latin typeface="Calibri"/>
              </a:rPr>
              <a:t>Viêm đường hô hấp (180 ca) và Bệnh tiêu hóa (90 ca) duy trì khám ngoại trú.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Thiết kế Donut Chart tối giản: </a:t>
            </a:r>
            <a:r>
              <a:rPr sz="1600">
                <a:solidFill>
                  <a:srgbClr val="475569"/>
                </a:solidFill>
                <a:latin typeface="Calibri"/>
              </a:rPr>
              <a:t>Dùng tông màu xanh y tế phân cấp theo tỷ trọng, bỏ hiệu ứng 3D rối mắt.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212080" y="2011680"/>
          <a:ext cx="6217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Số liệu tổng hợp tự động bằng hàm COUNTIF từ 1,000 hồ sơ bệnh nhân tại Sheet HoSoBenhNhan.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Clinic-Cloud Giúp Phòng Khám Lưu Trữ Khoa Học Và Bảo Mật</a:t>
            </a:r>
          </a:p>
          <a:p>
            <a:r>
              <a:rPr sz="2000">
                <a:solidFill>
                  <a:srgbClr val="7DD3FC"/>
                </a:solidFill>
                <a:latin typeface="Calibri"/>
              </a:rPr>
              <a:t>Em xin cảm ơn Giảng viên đã xem xét bài làm.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CBD5E1"/>
                </a:solidFill>
                <a:latin typeface="Calibri"/>
              </a:rPr>
              <a:t>Thi Thành Đạt | N26DTCN041 | thithanhdat111@gmail.com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